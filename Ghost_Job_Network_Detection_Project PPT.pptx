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Now" panose="020B0604020202020204" charset="0"/>
      <p:regular r:id="rId11"/>
    </p:embeddedFont>
    <p:embeddedFont>
      <p:font typeface="Now Bold" panose="020B0604020202020204" charset="0"/>
      <p:regular r:id="rId12"/>
    </p:embeddedFont>
    <p:embeddedFont>
      <p:font typeface="Now Heavy" panose="020B0604020202020204" charset="0"/>
      <p:regular r:id="rId13"/>
    </p:embeddedFont>
    <p:embeddedFont>
      <p:font typeface="Roca One Heavy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.svg"/><Relationship Id="rId7" Type="http://schemas.openxmlformats.org/officeDocument/2006/relationships/image" Target="../media/image25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3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1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5651">
            <a:off x="-374163" y="7063110"/>
            <a:ext cx="3363430" cy="4223485"/>
          </a:xfrm>
          <a:custGeom>
            <a:avLst/>
            <a:gdLst/>
            <a:ahLst/>
            <a:cxnLst/>
            <a:rect l="l" t="t" r="r" b="b"/>
            <a:pathLst>
              <a:path w="3363430" h="4223485">
                <a:moveTo>
                  <a:pt x="0" y="0"/>
                </a:moveTo>
                <a:lnTo>
                  <a:pt x="3363430" y="0"/>
                </a:lnTo>
                <a:lnTo>
                  <a:pt x="3363430" y="4223485"/>
                </a:lnTo>
                <a:lnTo>
                  <a:pt x="0" y="4223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63469">
            <a:off x="699475" y="1272652"/>
            <a:ext cx="16255606" cy="7982552"/>
            <a:chOff x="0" y="0"/>
            <a:chExt cx="4281312" cy="21024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81312" cy="2102401"/>
            </a:xfrm>
            <a:custGeom>
              <a:avLst/>
              <a:gdLst/>
              <a:ahLst/>
              <a:cxnLst/>
              <a:rect l="l" t="t" r="r" b="b"/>
              <a:pathLst>
                <a:path w="4281312" h="2102401">
                  <a:moveTo>
                    <a:pt x="0" y="0"/>
                  </a:moveTo>
                  <a:lnTo>
                    <a:pt x="4281312" y="0"/>
                  </a:lnTo>
                  <a:lnTo>
                    <a:pt x="4281312" y="2102401"/>
                  </a:lnTo>
                  <a:lnTo>
                    <a:pt x="0" y="2102401"/>
                  </a:lnTo>
                  <a:close/>
                </a:path>
              </a:pathLst>
            </a:custGeom>
            <a:solidFill>
              <a:srgbClr val="ADB4E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4281312" cy="2073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53988">
            <a:off x="13519037" y="3915441"/>
            <a:ext cx="5448532" cy="4937732"/>
          </a:xfrm>
          <a:custGeom>
            <a:avLst/>
            <a:gdLst/>
            <a:ahLst/>
            <a:cxnLst/>
            <a:rect l="l" t="t" r="r" b="b"/>
            <a:pathLst>
              <a:path w="5448532" h="4937732">
                <a:moveTo>
                  <a:pt x="0" y="0"/>
                </a:moveTo>
                <a:lnTo>
                  <a:pt x="5448532" y="0"/>
                </a:lnTo>
                <a:lnTo>
                  <a:pt x="5448532" y="4937732"/>
                </a:lnTo>
                <a:lnTo>
                  <a:pt x="0" y="4937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9799252">
            <a:off x="-648845" y="-154798"/>
            <a:ext cx="3658709" cy="1234814"/>
          </a:xfrm>
          <a:custGeom>
            <a:avLst/>
            <a:gdLst/>
            <a:ahLst/>
            <a:cxnLst/>
            <a:rect l="l" t="t" r="r" b="b"/>
            <a:pathLst>
              <a:path w="3658709" h="1234814">
                <a:moveTo>
                  <a:pt x="0" y="0"/>
                </a:moveTo>
                <a:lnTo>
                  <a:pt x="3658709" y="0"/>
                </a:lnTo>
                <a:lnTo>
                  <a:pt x="3658709" y="1234814"/>
                </a:lnTo>
                <a:lnTo>
                  <a:pt x="0" y="1234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216278">
            <a:off x="10442914" y="8763903"/>
            <a:ext cx="3829835" cy="988794"/>
          </a:xfrm>
          <a:custGeom>
            <a:avLst/>
            <a:gdLst/>
            <a:ahLst/>
            <a:cxnLst/>
            <a:rect l="l" t="t" r="r" b="b"/>
            <a:pathLst>
              <a:path w="3829835" h="988794">
                <a:moveTo>
                  <a:pt x="0" y="0"/>
                </a:moveTo>
                <a:lnTo>
                  <a:pt x="3829835" y="0"/>
                </a:lnTo>
                <a:lnTo>
                  <a:pt x="3829835" y="988794"/>
                </a:lnTo>
                <a:lnTo>
                  <a:pt x="0" y="988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262115">
            <a:off x="11282301" y="2160614"/>
            <a:ext cx="7354870" cy="5852290"/>
            <a:chOff x="0" y="0"/>
            <a:chExt cx="1021487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1487" cy="812800"/>
            </a:xfrm>
            <a:custGeom>
              <a:avLst/>
              <a:gdLst/>
              <a:ahLst/>
              <a:cxnLst/>
              <a:rect l="l" t="t" r="r" b="b"/>
              <a:pathLst>
                <a:path w="1021487" h="812800">
                  <a:moveTo>
                    <a:pt x="0" y="0"/>
                  </a:moveTo>
                  <a:lnTo>
                    <a:pt x="1021487" y="0"/>
                  </a:lnTo>
                  <a:lnTo>
                    <a:pt x="102148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54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21487" cy="784225"/>
            </a:xfrm>
            <a:prstGeom prst="rect">
              <a:avLst/>
            </a:prstGeom>
          </p:spPr>
          <p:txBody>
            <a:bodyPr lIns="52802" tIns="52802" rIns="52802" bIns="52802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74619">
            <a:off x="11570286" y="2478348"/>
            <a:ext cx="7378884" cy="5277879"/>
            <a:chOff x="0" y="0"/>
            <a:chExt cx="1136357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6357" cy="812800"/>
            </a:xfrm>
            <a:custGeom>
              <a:avLst/>
              <a:gdLst/>
              <a:ahLst/>
              <a:cxnLst/>
              <a:rect l="l" t="t" r="r" b="b"/>
              <a:pathLst>
                <a:path w="1136357" h="812800">
                  <a:moveTo>
                    <a:pt x="0" y="0"/>
                  </a:moveTo>
                  <a:lnTo>
                    <a:pt x="1136357" y="0"/>
                  </a:lnTo>
                  <a:lnTo>
                    <a:pt x="113635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t="-49862" b="-498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 rot="1450879">
            <a:off x="16607390" y="1094854"/>
            <a:ext cx="839984" cy="1957590"/>
          </a:xfrm>
          <a:custGeom>
            <a:avLst/>
            <a:gdLst/>
            <a:ahLst/>
            <a:cxnLst/>
            <a:rect l="l" t="t" r="r" b="b"/>
            <a:pathLst>
              <a:path w="839984" h="1957590">
                <a:moveTo>
                  <a:pt x="0" y="0"/>
                </a:moveTo>
                <a:lnTo>
                  <a:pt x="839984" y="0"/>
                </a:lnTo>
                <a:lnTo>
                  <a:pt x="839984" y="1957590"/>
                </a:lnTo>
                <a:lnTo>
                  <a:pt x="0" y="1957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329893">
            <a:off x="2083007" y="1027757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633632" y="3596039"/>
            <a:ext cx="9436461" cy="180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7"/>
              </a:lnSpc>
            </a:pPr>
            <a:r>
              <a:rPr lang="en-US" sz="4687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Integration of AI for Detecting Fake Jobs &amp; Networks in Online Recruitment Platforms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3632" y="5513643"/>
            <a:ext cx="8861335" cy="810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6"/>
              </a:lnSpc>
            </a:pPr>
            <a:r>
              <a:rPr lang="en-US" sz="2443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A context-based </a:t>
            </a:r>
            <a:r>
              <a:rPr lang="en-US" sz="2443" b="1" dirty="0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AI-driven</a:t>
            </a:r>
            <a:r>
              <a:rPr lang="en-US" sz="2443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 approach to enhance safety, trust, and fraud detection across job platforms.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4284" y="7861839"/>
            <a:ext cx="886133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6"/>
              </a:lnSpc>
            </a:pPr>
            <a:r>
              <a:rPr lang="en-US" sz="2443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Devanshu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3982" y="765105"/>
            <a:ext cx="8821320" cy="8756789"/>
            <a:chOff x="0" y="0"/>
            <a:chExt cx="2323311" cy="2306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3311" cy="2306315"/>
            </a:xfrm>
            <a:custGeom>
              <a:avLst/>
              <a:gdLst/>
              <a:ahLst/>
              <a:cxnLst/>
              <a:rect l="l" t="t" r="r" b="b"/>
              <a:pathLst>
                <a:path w="2323311" h="2306315">
                  <a:moveTo>
                    <a:pt x="35105" y="0"/>
                  </a:moveTo>
                  <a:lnTo>
                    <a:pt x="2288205" y="0"/>
                  </a:lnTo>
                  <a:cubicBezTo>
                    <a:pt x="2307593" y="0"/>
                    <a:pt x="2323311" y="15717"/>
                    <a:pt x="2323311" y="35105"/>
                  </a:cubicBezTo>
                  <a:lnTo>
                    <a:pt x="2323311" y="2271209"/>
                  </a:lnTo>
                  <a:cubicBezTo>
                    <a:pt x="2323311" y="2280520"/>
                    <a:pt x="2319612" y="2289449"/>
                    <a:pt x="2313028" y="2296033"/>
                  </a:cubicBezTo>
                  <a:cubicBezTo>
                    <a:pt x="2306445" y="2302616"/>
                    <a:pt x="2297516" y="2306315"/>
                    <a:pt x="2288205" y="2306315"/>
                  </a:cubicBezTo>
                  <a:lnTo>
                    <a:pt x="35105" y="2306315"/>
                  </a:lnTo>
                  <a:cubicBezTo>
                    <a:pt x="15717" y="2306315"/>
                    <a:pt x="0" y="2290598"/>
                    <a:pt x="0" y="2271209"/>
                  </a:cubicBezTo>
                  <a:lnTo>
                    <a:pt x="0" y="35105"/>
                  </a:lnTo>
                  <a:cubicBezTo>
                    <a:pt x="0" y="15717"/>
                    <a:pt x="15717" y="0"/>
                    <a:pt x="35105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323311" cy="2277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196393">
            <a:off x="13888687" y="2644264"/>
            <a:ext cx="3317316" cy="4538617"/>
          </a:xfrm>
          <a:custGeom>
            <a:avLst/>
            <a:gdLst/>
            <a:ahLst/>
            <a:cxnLst/>
            <a:rect l="l" t="t" r="r" b="b"/>
            <a:pathLst>
              <a:path w="3317316" h="4538617">
                <a:moveTo>
                  <a:pt x="0" y="0"/>
                </a:moveTo>
                <a:lnTo>
                  <a:pt x="3317317" y="0"/>
                </a:lnTo>
                <a:lnTo>
                  <a:pt x="3317317" y="4538617"/>
                </a:lnTo>
                <a:lnTo>
                  <a:pt x="0" y="4538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530064" y="2175117"/>
            <a:ext cx="5729743" cy="5297737"/>
            <a:chOff x="0" y="0"/>
            <a:chExt cx="87908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080" cy="812800"/>
            </a:xfrm>
            <a:custGeom>
              <a:avLst/>
              <a:gdLst/>
              <a:ahLst/>
              <a:cxnLst/>
              <a:rect l="l" t="t" r="r" b="b"/>
              <a:pathLst>
                <a:path w="879080" h="812800">
                  <a:moveTo>
                    <a:pt x="0" y="0"/>
                  </a:moveTo>
                  <a:lnTo>
                    <a:pt x="879080" y="0"/>
                  </a:lnTo>
                  <a:lnTo>
                    <a:pt x="8790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79080" cy="784225"/>
            </a:xfrm>
            <a:prstGeom prst="rect">
              <a:avLst/>
            </a:prstGeom>
          </p:spPr>
          <p:txBody>
            <a:bodyPr lIns="52802" tIns="52802" rIns="52802" bIns="52802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30064" y="7652482"/>
            <a:ext cx="5729743" cy="1496652"/>
            <a:chOff x="0" y="0"/>
            <a:chExt cx="1569550" cy="4099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9550" cy="409978"/>
            </a:xfrm>
            <a:custGeom>
              <a:avLst/>
              <a:gdLst/>
              <a:ahLst/>
              <a:cxnLst/>
              <a:rect l="l" t="t" r="r" b="b"/>
              <a:pathLst>
                <a:path w="1569550" h="409978">
                  <a:moveTo>
                    <a:pt x="16214" y="0"/>
                  </a:moveTo>
                  <a:lnTo>
                    <a:pt x="1553336" y="0"/>
                  </a:lnTo>
                  <a:cubicBezTo>
                    <a:pt x="1557636" y="0"/>
                    <a:pt x="1561760" y="1708"/>
                    <a:pt x="1564801" y="4749"/>
                  </a:cubicBezTo>
                  <a:cubicBezTo>
                    <a:pt x="1567842" y="7790"/>
                    <a:pt x="1569550" y="11914"/>
                    <a:pt x="1569550" y="16214"/>
                  </a:cubicBezTo>
                  <a:lnTo>
                    <a:pt x="1569550" y="393764"/>
                  </a:lnTo>
                  <a:cubicBezTo>
                    <a:pt x="1569550" y="398064"/>
                    <a:pt x="1567842" y="402188"/>
                    <a:pt x="1564801" y="405229"/>
                  </a:cubicBezTo>
                  <a:cubicBezTo>
                    <a:pt x="1561760" y="408270"/>
                    <a:pt x="1557636" y="409978"/>
                    <a:pt x="1553336" y="409978"/>
                  </a:cubicBezTo>
                  <a:lnTo>
                    <a:pt x="16214" y="409978"/>
                  </a:lnTo>
                  <a:cubicBezTo>
                    <a:pt x="11914" y="409978"/>
                    <a:pt x="7790" y="408270"/>
                    <a:pt x="4749" y="405229"/>
                  </a:cubicBezTo>
                  <a:cubicBezTo>
                    <a:pt x="1708" y="402188"/>
                    <a:pt x="0" y="398064"/>
                    <a:pt x="0" y="393764"/>
                  </a:cubicBezTo>
                  <a:lnTo>
                    <a:pt x="0" y="16214"/>
                  </a:lnTo>
                  <a:cubicBezTo>
                    <a:pt x="0" y="11914"/>
                    <a:pt x="1708" y="7790"/>
                    <a:pt x="4749" y="4749"/>
                  </a:cubicBezTo>
                  <a:cubicBezTo>
                    <a:pt x="7790" y="1708"/>
                    <a:pt x="11914" y="0"/>
                    <a:pt x="16214" y="0"/>
                  </a:cubicBez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69550" cy="467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7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89607" y="2435108"/>
            <a:ext cx="5210656" cy="4777756"/>
            <a:chOff x="0" y="0"/>
            <a:chExt cx="886446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6446" cy="812800"/>
            </a:xfrm>
            <a:custGeom>
              <a:avLst/>
              <a:gdLst/>
              <a:ahLst/>
              <a:cxnLst/>
              <a:rect l="l" t="t" r="r" b="b"/>
              <a:pathLst>
                <a:path w="886446" h="812800">
                  <a:moveTo>
                    <a:pt x="0" y="0"/>
                  </a:moveTo>
                  <a:lnTo>
                    <a:pt x="886446" y="0"/>
                  </a:lnTo>
                  <a:lnTo>
                    <a:pt x="88644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2931" b="-29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583602" y="1137866"/>
            <a:ext cx="1622667" cy="1668162"/>
          </a:xfrm>
          <a:custGeom>
            <a:avLst/>
            <a:gdLst/>
            <a:ahLst/>
            <a:cxnLst/>
            <a:rect l="l" t="t" r="r" b="b"/>
            <a:pathLst>
              <a:path w="1622667" h="1668162">
                <a:moveTo>
                  <a:pt x="0" y="0"/>
                </a:moveTo>
                <a:lnTo>
                  <a:pt x="1622667" y="0"/>
                </a:lnTo>
                <a:lnTo>
                  <a:pt x="1622667" y="1668163"/>
                </a:lnTo>
                <a:lnTo>
                  <a:pt x="0" y="1668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470675" y="6207867"/>
            <a:ext cx="6467933" cy="219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2"/>
              </a:lnSpc>
              <a:spcBef>
                <a:spcPct val="0"/>
              </a:spcBef>
            </a:pPr>
            <a:r>
              <a:rPr lang="en-US" sz="2887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Challenge:</a:t>
            </a:r>
            <a:r>
              <a:rPr lang="en-US" sz="2887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 M</a:t>
            </a:r>
            <a:r>
              <a:rPr lang="en-US" sz="2887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ost detection methods focus only on single listings or text-based cues, missing wider fraud patterns.</a:t>
            </a:r>
          </a:p>
          <a:p>
            <a:pPr marL="0" lvl="0" indent="0" algn="ctr">
              <a:lnSpc>
                <a:spcPts val="3522"/>
              </a:lnSpc>
              <a:spcBef>
                <a:spcPct val="0"/>
              </a:spcBef>
            </a:pPr>
            <a:endParaRPr lang="en-US" sz="2887" u="none" strike="noStrike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01323" y="2141767"/>
            <a:ext cx="6606636" cy="401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2"/>
              </a:lnSpc>
            </a:pPr>
            <a:r>
              <a:rPr lang="en-US" sz="4120" b="1">
                <a:solidFill>
                  <a:srgbClr val="D44848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PROBLEM: </a:t>
            </a:r>
          </a:p>
          <a:p>
            <a:pPr marL="0" lvl="0" indent="0" algn="ctr">
              <a:lnSpc>
                <a:spcPts val="4532"/>
              </a:lnSpc>
              <a:spcBef>
                <a:spcPct val="0"/>
              </a:spcBef>
            </a:pPr>
            <a:r>
              <a:rPr lang="en-US" sz="4120" b="1" u="none" strike="noStrike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Rise of fake job postings, ghost employers, and scam networks exploiting job seekers across platforms.</a:t>
            </a:r>
          </a:p>
          <a:p>
            <a:pPr marL="0" lvl="0" indent="0" algn="ctr">
              <a:lnSpc>
                <a:spcPts val="4532"/>
              </a:lnSpc>
              <a:spcBef>
                <a:spcPct val="0"/>
              </a:spcBef>
            </a:pPr>
            <a:endParaRPr lang="en-US" sz="4120" b="1" u="none" strike="noStrike">
              <a:solidFill>
                <a:srgbClr val="0F1113"/>
              </a:solidFill>
              <a:latin typeface="Roca One Heavy"/>
              <a:ea typeface="Roca One Heavy"/>
              <a:cs typeface="Roca One Heavy"/>
              <a:sym typeface="Roca One Heav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788558" y="8227277"/>
            <a:ext cx="5211705" cy="32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5"/>
              </a:lnSpc>
            </a:pPr>
            <a:r>
              <a:rPr lang="en-US" sz="2035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Stay alert to avoid employment scams!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37980" y="765105"/>
            <a:ext cx="8821320" cy="8756789"/>
            <a:chOff x="0" y="0"/>
            <a:chExt cx="2323311" cy="2306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3311" cy="2306315"/>
            </a:xfrm>
            <a:custGeom>
              <a:avLst/>
              <a:gdLst/>
              <a:ahLst/>
              <a:cxnLst/>
              <a:rect l="l" t="t" r="r" b="b"/>
              <a:pathLst>
                <a:path w="2323311" h="2306315">
                  <a:moveTo>
                    <a:pt x="35105" y="0"/>
                  </a:moveTo>
                  <a:lnTo>
                    <a:pt x="2288205" y="0"/>
                  </a:lnTo>
                  <a:cubicBezTo>
                    <a:pt x="2307593" y="0"/>
                    <a:pt x="2323311" y="15717"/>
                    <a:pt x="2323311" y="35105"/>
                  </a:cubicBezTo>
                  <a:lnTo>
                    <a:pt x="2323311" y="2271209"/>
                  </a:lnTo>
                  <a:cubicBezTo>
                    <a:pt x="2323311" y="2280520"/>
                    <a:pt x="2319612" y="2289449"/>
                    <a:pt x="2313028" y="2296033"/>
                  </a:cubicBezTo>
                  <a:cubicBezTo>
                    <a:pt x="2306445" y="2302616"/>
                    <a:pt x="2297516" y="2306315"/>
                    <a:pt x="2288205" y="2306315"/>
                  </a:cubicBezTo>
                  <a:lnTo>
                    <a:pt x="35105" y="2306315"/>
                  </a:lnTo>
                  <a:cubicBezTo>
                    <a:pt x="15717" y="2306315"/>
                    <a:pt x="0" y="2290598"/>
                    <a:pt x="0" y="2271209"/>
                  </a:cubicBezTo>
                  <a:lnTo>
                    <a:pt x="0" y="35105"/>
                  </a:lnTo>
                  <a:cubicBezTo>
                    <a:pt x="0" y="15717"/>
                    <a:pt x="15717" y="0"/>
                    <a:pt x="35105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323311" cy="2277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196393">
            <a:off x="4387323" y="2644264"/>
            <a:ext cx="3317316" cy="4538617"/>
          </a:xfrm>
          <a:custGeom>
            <a:avLst/>
            <a:gdLst/>
            <a:ahLst/>
            <a:cxnLst/>
            <a:rect l="l" t="t" r="r" b="b"/>
            <a:pathLst>
              <a:path w="3317316" h="4538617">
                <a:moveTo>
                  <a:pt x="0" y="0"/>
                </a:moveTo>
                <a:lnTo>
                  <a:pt x="3317317" y="0"/>
                </a:lnTo>
                <a:lnTo>
                  <a:pt x="3317317" y="4538617"/>
                </a:lnTo>
                <a:lnTo>
                  <a:pt x="0" y="4538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2175117"/>
            <a:ext cx="5729743" cy="5297737"/>
            <a:chOff x="0" y="0"/>
            <a:chExt cx="87908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080" cy="812800"/>
            </a:xfrm>
            <a:custGeom>
              <a:avLst/>
              <a:gdLst/>
              <a:ahLst/>
              <a:cxnLst/>
              <a:rect l="l" t="t" r="r" b="b"/>
              <a:pathLst>
                <a:path w="879080" h="812800">
                  <a:moveTo>
                    <a:pt x="0" y="0"/>
                  </a:moveTo>
                  <a:lnTo>
                    <a:pt x="879080" y="0"/>
                  </a:lnTo>
                  <a:lnTo>
                    <a:pt x="8790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79080" cy="784225"/>
            </a:xfrm>
            <a:prstGeom prst="rect">
              <a:avLst/>
            </a:prstGeom>
          </p:spPr>
          <p:txBody>
            <a:bodyPr lIns="52802" tIns="52802" rIns="52802" bIns="52802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652482"/>
            <a:ext cx="5729743" cy="1496652"/>
            <a:chOff x="0" y="0"/>
            <a:chExt cx="1569550" cy="4099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9550" cy="409978"/>
            </a:xfrm>
            <a:custGeom>
              <a:avLst/>
              <a:gdLst/>
              <a:ahLst/>
              <a:cxnLst/>
              <a:rect l="l" t="t" r="r" b="b"/>
              <a:pathLst>
                <a:path w="1569550" h="409978">
                  <a:moveTo>
                    <a:pt x="16214" y="0"/>
                  </a:moveTo>
                  <a:lnTo>
                    <a:pt x="1553336" y="0"/>
                  </a:lnTo>
                  <a:cubicBezTo>
                    <a:pt x="1557636" y="0"/>
                    <a:pt x="1561760" y="1708"/>
                    <a:pt x="1564801" y="4749"/>
                  </a:cubicBezTo>
                  <a:cubicBezTo>
                    <a:pt x="1567842" y="7790"/>
                    <a:pt x="1569550" y="11914"/>
                    <a:pt x="1569550" y="16214"/>
                  </a:cubicBezTo>
                  <a:lnTo>
                    <a:pt x="1569550" y="393764"/>
                  </a:lnTo>
                  <a:cubicBezTo>
                    <a:pt x="1569550" y="398064"/>
                    <a:pt x="1567842" y="402188"/>
                    <a:pt x="1564801" y="405229"/>
                  </a:cubicBezTo>
                  <a:cubicBezTo>
                    <a:pt x="1561760" y="408270"/>
                    <a:pt x="1557636" y="409978"/>
                    <a:pt x="1553336" y="409978"/>
                  </a:cubicBezTo>
                  <a:lnTo>
                    <a:pt x="16214" y="409978"/>
                  </a:lnTo>
                  <a:cubicBezTo>
                    <a:pt x="11914" y="409978"/>
                    <a:pt x="7790" y="408270"/>
                    <a:pt x="4749" y="405229"/>
                  </a:cubicBezTo>
                  <a:cubicBezTo>
                    <a:pt x="1708" y="402188"/>
                    <a:pt x="0" y="398064"/>
                    <a:pt x="0" y="393764"/>
                  </a:cubicBezTo>
                  <a:lnTo>
                    <a:pt x="0" y="16214"/>
                  </a:lnTo>
                  <a:cubicBezTo>
                    <a:pt x="0" y="11914"/>
                    <a:pt x="1708" y="7790"/>
                    <a:pt x="4749" y="4749"/>
                  </a:cubicBezTo>
                  <a:cubicBezTo>
                    <a:pt x="7790" y="1708"/>
                    <a:pt x="11914" y="0"/>
                    <a:pt x="16214" y="0"/>
                  </a:cubicBez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69550" cy="467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7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8244" y="2435108"/>
            <a:ext cx="5210656" cy="4777756"/>
            <a:chOff x="0" y="0"/>
            <a:chExt cx="886446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6446" cy="812800"/>
            </a:xfrm>
            <a:custGeom>
              <a:avLst/>
              <a:gdLst/>
              <a:ahLst/>
              <a:cxnLst/>
              <a:rect l="l" t="t" r="r" b="b"/>
              <a:pathLst>
                <a:path w="886446" h="812800">
                  <a:moveTo>
                    <a:pt x="0" y="0"/>
                  </a:moveTo>
                  <a:lnTo>
                    <a:pt x="886446" y="0"/>
                  </a:lnTo>
                  <a:lnTo>
                    <a:pt x="88644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8769" r="-187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3082238" y="1137866"/>
            <a:ext cx="1622667" cy="1668162"/>
          </a:xfrm>
          <a:custGeom>
            <a:avLst/>
            <a:gdLst/>
            <a:ahLst/>
            <a:cxnLst/>
            <a:rect l="l" t="t" r="r" b="b"/>
            <a:pathLst>
              <a:path w="1622667" h="1668162">
                <a:moveTo>
                  <a:pt x="0" y="0"/>
                </a:moveTo>
                <a:lnTo>
                  <a:pt x="1622667" y="0"/>
                </a:lnTo>
                <a:lnTo>
                  <a:pt x="1622667" y="1668163"/>
                </a:lnTo>
                <a:lnTo>
                  <a:pt x="0" y="1668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614674" y="5486048"/>
            <a:ext cx="6467933" cy="306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411" lvl="1" indent="-311706" algn="l">
              <a:lnSpc>
                <a:spcPts val="3522"/>
              </a:lnSpc>
              <a:buFont typeface="Arial"/>
              <a:buChar char="•"/>
            </a:pPr>
            <a:r>
              <a:rPr lang="en-US" sz="2887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Use </a:t>
            </a:r>
            <a:r>
              <a:rPr lang="en-US" sz="2887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semantic embeddings (DistilBERT) to find reused text patterns</a:t>
            </a:r>
          </a:p>
          <a:p>
            <a:pPr marL="623411" lvl="1" indent="-311706" algn="l">
              <a:lnSpc>
                <a:spcPts val="3522"/>
              </a:lnSpc>
              <a:buFont typeface="Arial"/>
              <a:buChar char="•"/>
            </a:pPr>
            <a:r>
              <a:rPr lang="en-US" sz="2887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Use TabNet for metadata anomaly detection</a:t>
            </a:r>
          </a:p>
          <a:p>
            <a:pPr marL="623411" lvl="1" indent="-311706" algn="l">
              <a:lnSpc>
                <a:spcPts val="3522"/>
              </a:lnSpc>
              <a:spcBef>
                <a:spcPct val="0"/>
              </a:spcBef>
              <a:buFont typeface="Arial"/>
              <a:buChar char="•"/>
            </a:pPr>
            <a:r>
              <a:rPr lang="en-US" sz="2887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Combine both to uncover coordinated scam networks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7194" y="8227277"/>
            <a:ext cx="5211705" cy="32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5"/>
              </a:lnSpc>
            </a:pPr>
            <a:r>
              <a:rPr lang="en-US" sz="2035" u="none" strike="noStrike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Stay alert to avoid employment scams!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970" y="1918940"/>
            <a:ext cx="6606636" cy="344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2"/>
              </a:lnSpc>
            </a:pPr>
            <a:r>
              <a:rPr lang="en-US" sz="4120" b="1" dirty="0">
                <a:solidFill>
                  <a:srgbClr val="5EE45B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SOLUTION:</a:t>
            </a:r>
          </a:p>
          <a:p>
            <a:pPr marL="0" lvl="0" indent="0" algn="ctr">
              <a:lnSpc>
                <a:spcPts val="4532"/>
              </a:lnSpc>
              <a:spcBef>
                <a:spcPct val="0"/>
              </a:spcBef>
            </a:pPr>
            <a:r>
              <a:rPr lang="en-US" sz="4120" b="1" dirty="0">
                <a:solidFill>
                  <a:srgbClr val="0000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Ident</a:t>
            </a:r>
            <a:r>
              <a:rPr lang="en-US" sz="4120" b="1" u="none" strike="noStrike" dirty="0">
                <a:solidFill>
                  <a:srgbClr val="0000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ifying fake jobs and coordinated scam networks using context-based clustering</a:t>
            </a:r>
          </a:p>
          <a:p>
            <a:pPr marL="0" lvl="0" indent="0" algn="ctr">
              <a:lnSpc>
                <a:spcPts val="4532"/>
              </a:lnSpc>
              <a:spcBef>
                <a:spcPct val="0"/>
              </a:spcBef>
            </a:pPr>
            <a:endParaRPr lang="en-US" sz="4120" b="1" u="none" strike="noStrike" dirty="0">
              <a:solidFill>
                <a:srgbClr val="000000"/>
              </a:solidFill>
              <a:latin typeface="Roca One Heavy"/>
              <a:ea typeface="Roca One Heavy"/>
              <a:cs typeface="Roca One Heavy"/>
              <a:sym typeface="Roca One Heav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00512" y="3324728"/>
            <a:ext cx="14205661" cy="8170282"/>
            <a:chOff x="0" y="0"/>
            <a:chExt cx="3741409" cy="2151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1408" cy="2151844"/>
            </a:xfrm>
            <a:custGeom>
              <a:avLst/>
              <a:gdLst/>
              <a:ahLst/>
              <a:cxnLst/>
              <a:rect l="l" t="t" r="r" b="b"/>
              <a:pathLst>
                <a:path w="3741408" h="2151844">
                  <a:moveTo>
                    <a:pt x="21800" y="0"/>
                  </a:moveTo>
                  <a:lnTo>
                    <a:pt x="3719609" y="0"/>
                  </a:lnTo>
                  <a:cubicBezTo>
                    <a:pt x="3725390" y="0"/>
                    <a:pt x="3730935" y="2297"/>
                    <a:pt x="3735024" y="6385"/>
                  </a:cubicBezTo>
                  <a:cubicBezTo>
                    <a:pt x="3739112" y="10473"/>
                    <a:pt x="3741408" y="16018"/>
                    <a:pt x="3741408" y="21800"/>
                  </a:cubicBezTo>
                  <a:lnTo>
                    <a:pt x="3741408" y="2130044"/>
                  </a:lnTo>
                  <a:cubicBezTo>
                    <a:pt x="3741408" y="2142084"/>
                    <a:pt x="3731649" y="2151844"/>
                    <a:pt x="3719609" y="2151844"/>
                  </a:cubicBezTo>
                  <a:lnTo>
                    <a:pt x="21800" y="2151844"/>
                  </a:lnTo>
                  <a:cubicBezTo>
                    <a:pt x="9760" y="2151844"/>
                    <a:pt x="0" y="2142084"/>
                    <a:pt x="0" y="2130044"/>
                  </a:cubicBezTo>
                  <a:lnTo>
                    <a:pt x="0" y="21800"/>
                  </a:lnTo>
                  <a:cubicBezTo>
                    <a:pt x="0" y="9760"/>
                    <a:pt x="9760" y="0"/>
                    <a:pt x="21800" y="0"/>
                  </a:cubicBezTo>
                  <a:close/>
                </a:path>
              </a:pathLst>
            </a:custGeom>
            <a:solidFill>
              <a:srgbClr val="282F4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3741409" cy="2123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183998">
            <a:off x="1092825" y="5727291"/>
            <a:ext cx="3365155" cy="3365155"/>
          </a:xfrm>
          <a:custGeom>
            <a:avLst/>
            <a:gdLst/>
            <a:ahLst/>
            <a:cxnLst/>
            <a:rect l="l" t="t" r="r" b="b"/>
            <a:pathLst>
              <a:path w="3365155" h="3365155">
                <a:moveTo>
                  <a:pt x="0" y="0"/>
                </a:moveTo>
                <a:lnTo>
                  <a:pt x="3365155" y="0"/>
                </a:lnTo>
                <a:lnTo>
                  <a:pt x="3365155" y="3365155"/>
                </a:lnTo>
                <a:lnTo>
                  <a:pt x="0" y="33651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751564" y="1047750"/>
            <a:ext cx="8707171" cy="8170282"/>
            <a:chOff x="0" y="0"/>
            <a:chExt cx="2293247" cy="21518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3247" cy="2151844"/>
            </a:xfrm>
            <a:custGeom>
              <a:avLst/>
              <a:gdLst/>
              <a:ahLst/>
              <a:cxnLst/>
              <a:rect l="l" t="t" r="r" b="b"/>
              <a:pathLst>
                <a:path w="2293247" h="2151844">
                  <a:moveTo>
                    <a:pt x="35566" y="0"/>
                  </a:moveTo>
                  <a:lnTo>
                    <a:pt x="2257681" y="0"/>
                  </a:lnTo>
                  <a:cubicBezTo>
                    <a:pt x="2267114" y="0"/>
                    <a:pt x="2276160" y="3747"/>
                    <a:pt x="2282830" y="10417"/>
                  </a:cubicBezTo>
                  <a:cubicBezTo>
                    <a:pt x="2289500" y="17087"/>
                    <a:pt x="2293247" y="26133"/>
                    <a:pt x="2293247" y="35566"/>
                  </a:cubicBezTo>
                  <a:lnTo>
                    <a:pt x="2293247" y="2116278"/>
                  </a:lnTo>
                  <a:cubicBezTo>
                    <a:pt x="2293247" y="2135921"/>
                    <a:pt x="2277323" y="2151844"/>
                    <a:pt x="2257681" y="2151844"/>
                  </a:cubicBezTo>
                  <a:lnTo>
                    <a:pt x="35566" y="2151844"/>
                  </a:lnTo>
                  <a:cubicBezTo>
                    <a:pt x="15923" y="2151844"/>
                    <a:pt x="0" y="2135921"/>
                    <a:pt x="0" y="2116278"/>
                  </a:cubicBezTo>
                  <a:lnTo>
                    <a:pt x="0" y="35566"/>
                  </a:lnTo>
                  <a:cubicBezTo>
                    <a:pt x="0" y="15923"/>
                    <a:pt x="15923" y="0"/>
                    <a:pt x="35566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293247" cy="2123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77197" y="470071"/>
            <a:ext cx="1322640" cy="1658483"/>
          </a:xfrm>
          <a:custGeom>
            <a:avLst/>
            <a:gdLst/>
            <a:ahLst/>
            <a:cxnLst/>
            <a:rect l="l" t="t" r="r" b="b"/>
            <a:pathLst>
              <a:path w="1322640" h="1658483">
                <a:moveTo>
                  <a:pt x="0" y="0"/>
                </a:moveTo>
                <a:lnTo>
                  <a:pt x="1322640" y="0"/>
                </a:lnTo>
                <a:lnTo>
                  <a:pt x="1322640" y="1658483"/>
                </a:lnTo>
                <a:lnTo>
                  <a:pt x="0" y="1658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 rot="-595132">
            <a:off x="1464659" y="2184130"/>
            <a:ext cx="5959385" cy="6309559"/>
            <a:chOff x="0" y="0"/>
            <a:chExt cx="879080" cy="9307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9080" cy="930735"/>
            </a:xfrm>
            <a:custGeom>
              <a:avLst/>
              <a:gdLst/>
              <a:ahLst/>
              <a:cxnLst/>
              <a:rect l="l" t="t" r="r" b="b"/>
              <a:pathLst>
                <a:path w="879080" h="930735">
                  <a:moveTo>
                    <a:pt x="0" y="0"/>
                  </a:moveTo>
                  <a:lnTo>
                    <a:pt x="879080" y="0"/>
                  </a:lnTo>
                  <a:lnTo>
                    <a:pt x="879080" y="930735"/>
                  </a:lnTo>
                  <a:lnTo>
                    <a:pt x="0" y="930735"/>
                  </a:ln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879080" cy="902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97482">
            <a:off x="1680479" y="2427674"/>
            <a:ext cx="5525801" cy="5820985"/>
            <a:chOff x="0" y="0"/>
            <a:chExt cx="812800" cy="8562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56219"/>
            </a:xfrm>
            <a:custGeom>
              <a:avLst/>
              <a:gdLst/>
              <a:ahLst/>
              <a:cxnLst/>
              <a:rect l="l" t="t" r="r" b="b"/>
              <a:pathLst>
                <a:path w="812800" h="856219">
                  <a:moveTo>
                    <a:pt x="0" y="0"/>
                  </a:moveTo>
                  <a:lnTo>
                    <a:pt x="812800" y="0"/>
                  </a:lnTo>
                  <a:lnTo>
                    <a:pt x="812800" y="856219"/>
                  </a:lnTo>
                  <a:lnTo>
                    <a:pt x="0" y="856219"/>
                  </a:lnTo>
                  <a:close/>
                </a:path>
              </a:pathLst>
            </a:custGeom>
            <a:blipFill>
              <a:blip r:embed="rId4"/>
              <a:stretch>
                <a:fillRect l="-41601" r="-416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 rot="-584762">
            <a:off x="2129181" y="1686599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5" y="0"/>
                </a:lnTo>
                <a:lnTo>
                  <a:pt x="3423595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761932" y="3258897"/>
            <a:ext cx="790166" cy="802139"/>
          </a:xfrm>
          <a:custGeom>
            <a:avLst/>
            <a:gdLst/>
            <a:ahLst/>
            <a:cxnLst/>
            <a:rect l="l" t="t" r="r" b="b"/>
            <a:pathLst>
              <a:path w="790166" h="802139">
                <a:moveTo>
                  <a:pt x="0" y="0"/>
                </a:moveTo>
                <a:lnTo>
                  <a:pt x="790167" y="0"/>
                </a:lnTo>
                <a:lnTo>
                  <a:pt x="790167" y="802139"/>
                </a:lnTo>
                <a:lnTo>
                  <a:pt x="0" y="802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761932" y="4642061"/>
            <a:ext cx="790166" cy="802139"/>
          </a:xfrm>
          <a:custGeom>
            <a:avLst/>
            <a:gdLst/>
            <a:ahLst/>
            <a:cxnLst/>
            <a:rect l="l" t="t" r="r" b="b"/>
            <a:pathLst>
              <a:path w="790166" h="802139">
                <a:moveTo>
                  <a:pt x="0" y="0"/>
                </a:moveTo>
                <a:lnTo>
                  <a:pt x="790167" y="0"/>
                </a:lnTo>
                <a:lnTo>
                  <a:pt x="790167" y="802138"/>
                </a:lnTo>
                <a:lnTo>
                  <a:pt x="0" y="802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761932" y="6133290"/>
            <a:ext cx="790166" cy="790166"/>
          </a:xfrm>
          <a:custGeom>
            <a:avLst/>
            <a:gdLst/>
            <a:ahLst/>
            <a:cxnLst/>
            <a:rect l="l" t="t" r="r" b="b"/>
            <a:pathLst>
              <a:path w="790166" h="790166">
                <a:moveTo>
                  <a:pt x="0" y="0"/>
                </a:moveTo>
                <a:lnTo>
                  <a:pt x="790167" y="0"/>
                </a:lnTo>
                <a:lnTo>
                  <a:pt x="790167" y="790167"/>
                </a:lnTo>
                <a:lnTo>
                  <a:pt x="0" y="790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761932" y="7612548"/>
            <a:ext cx="790166" cy="790166"/>
          </a:xfrm>
          <a:custGeom>
            <a:avLst/>
            <a:gdLst/>
            <a:ahLst/>
            <a:cxnLst/>
            <a:rect l="l" t="t" r="r" b="b"/>
            <a:pathLst>
              <a:path w="790166" h="790166">
                <a:moveTo>
                  <a:pt x="0" y="0"/>
                </a:moveTo>
                <a:lnTo>
                  <a:pt x="790167" y="0"/>
                </a:lnTo>
                <a:lnTo>
                  <a:pt x="790167" y="790166"/>
                </a:lnTo>
                <a:lnTo>
                  <a:pt x="0" y="7901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879171" y="1943951"/>
            <a:ext cx="6959346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9"/>
              </a:lnSpc>
            </a:pPr>
            <a:r>
              <a:rPr lang="en-US" sz="6399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Business Value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26912" y="3197051"/>
            <a:ext cx="59734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Early Detection of scam networks of jobs postings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6912" y="4680585"/>
            <a:ext cx="59734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Reduce false positives, protect legitimate users.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26912" y="6065459"/>
            <a:ext cx="59734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Adaptability by regional tuning via threshold control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26912" y="7544716"/>
            <a:ext cx="59734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Network mapping for tracing scam origins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36045">
            <a:off x="9861831" y="4239920"/>
            <a:ext cx="14205661" cy="8170282"/>
            <a:chOff x="0" y="0"/>
            <a:chExt cx="3741409" cy="2151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1408" cy="2151844"/>
            </a:xfrm>
            <a:custGeom>
              <a:avLst/>
              <a:gdLst/>
              <a:ahLst/>
              <a:cxnLst/>
              <a:rect l="l" t="t" r="r" b="b"/>
              <a:pathLst>
                <a:path w="3741408" h="2151844">
                  <a:moveTo>
                    <a:pt x="21800" y="0"/>
                  </a:moveTo>
                  <a:lnTo>
                    <a:pt x="3719609" y="0"/>
                  </a:lnTo>
                  <a:cubicBezTo>
                    <a:pt x="3725390" y="0"/>
                    <a:pt x="3730935" y="2297"/>
                    <a:pt x="3735024" y="6385"/>
                  </a:cubicBezTo>
                  <a:cubicBezTo>
                    <a:pt x="3739112" y="10473"/>
                    <a:pt x="3741408" y="16018"/>
                    <a:pt x="3741408" y="21800"/>
                  </a:cubicBezTo>
                  <a:lnTo>
                    <a:pt x="3741408" y="2130044"/>
                  </a:lnTo>
                  <a:cubicBezTo>
                    <a:pt x="3741408" y="2142084"/>
                    <a:pt x="3731649" y="2151844"/>
                    <a:pt x="3719609" y="2151844"/>
                  </a:cubicBezTo>
                  <a:lnTo>
                    <a:pt x="21800" y="2151844"/>
                  </a:lnTo>
                  <a:cubicBezTo>
                    <a:pt x="9760" y="2151844"/>
                    <a:pt x="0" y="2142084"/>
                    <a:pt x="0" y="2130044"/>
                  </a:cubicBezTo>
                  <a:lnTo>
                    <a:pt x="0" y="21800"/>
                  </a:lnTo>
                  <a:cubicBezTo>
                    <a:pt x="0" y="9760"/>
                    <a:pt x="9760" y="0"/>
                    <a:pt x="21800" y="0"/>
                  </a:cubicBezTo>
                  <a:close/>
                </a:path>
              </a:pathLst>
            </a:custGeom>
            <a:solidFill>
              <a:srgbClr val="282F4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3741409" cy="2123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846624">
            <a:off x="14398905" y="1144247"/>
            <a:ext cx="3941787" cy="3246599"/>
          </a:xfrm>
          <a:custGeom>
            <a:avLst/>
            <a:gdLst/>
            <a:ahLst/>
            <a:cxnLst/>
            <a:rect l="l" t="t" r="r" b="b"/>
            <a:pathLst>
              <a:path w="3941787" h="3246599">
                <a:moveTo>
                  <a:pt x="0" y="0"/>
                </a:moveTo>
                <a:lnTo>
                  <a:pt x="3941787" y="0"/>
                </a:lnTo>
                <a:lnTo>
                  <a:pt x="3941787" y="3246598"/>
                </a:lnTo>
                <a:lnTo>
                  <a:pt x="0" y="324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538770" y="-1597935"/>
            <a:ext cx="5134940" cy="4653539"/>
          </a:xfrm>
          <a:custGeom>
            <a:avLst/>
            <a:gdLst/>
            <a:ahLst/>
            <a:cxnLst/>
            <a:rect l="l" t="t" r="r" b="b"/>
            <a:pathLst>
              <a:path w="5134940" h="4653539">
                <a:moveTo>
                  <a:pt x="0" y="0"/>
                </a:moveTo>
                <a:lnTo>
                  <a:pt x="5134940" y="0"/>
                </a:lnTo>
                <a:lnTo>
                  <a:pt x="5134940" y="4653539"/>
                </a:lnTo>
                <a:lnTo>
                  <a:pt x="0" y="4653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76270">
            <a:off x="-71226" y="9370721"/>
            <a:ext cx="1737942" cy="993607"/>
          </a:xfrm>
          <a:custGeom>
            <a:avLst/>
            <a:gdLst/>
            <a:ahLst/>
            <a:cxnLst/>
            <a:rect l="l" t="t" r="r" b="b"/>
            <a:pathLst>
              <a:path w="1737942" h="993607">
                <a:moveTo>
                  <a:pt x="0" y="0"/>
                </a:moveTo>
                <a:lnTo>
                  <a:pt x="1737942" y="0"/>
                </a:lnTo>
                <a:lnTo>
                  <a:pt x="1737942" y="993608"/>
                </a:lnTo>
                <a:lnTo>
                  <a:pt x="0" y="99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93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883898" y="728835"/>
            <a:ext cx="1052020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16"/>
              </a:lnSpc>
            </a:pPr>
            <a:r>
              <a:rPr lang="en-US" sz="5180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Background and Scope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1784" y="1963398"/>
            <a:ext cx="4037096" cy="7280870"/>
            <a:chOff x="0" y="0"/>
            <a:chExt cx="1063268" cy="1917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3822" y="4465779"/>
            <a:ext cx="3313021" cy="323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ORFs not just limited to isolated fake jobs</a:t>
            </a:r>
          </a:p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New tactics include reposting similar jobs under different names, using vague or missing company details, and impersonating legitimate businesses.</a:t>
            </a:r>
          </a:p>
          <a:p>
            <a:pPr marL="0" lvl="0" indent="0" algn="ctr">
              <a:lnSpc>
                <a:spcPts val="2591"/>
              </a:lnSpc>
            </a:pPr>
            <a:endParaRPr lang="en-US" sz="1993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63822" y="2656673"/>
            <a:ext cx="3313021" cy="129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Rising Complexity of Scams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73780" y="1963398"/>
            <a:ext cx="4037096" cy="7280870"/>
            <a:chOff x="0" y="0"/>
            <a:chExt cx="1063268" cy="19175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87782" y="1963398"/>
            <a:ext cx="4037096" cy="7280870"/>
            <a:chOff x="0" y="0"/>
            <a:chExt cx="1063268" cy="19175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59778" y="1963398"/>
            <a:ext cx="4037096" cy="7280870"/>
            <a:chOff x="0" y="0"/>
            <a:chExt cx="1063268" cy="19175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3268" cy="1917595"/>
            </a:xfrm>
            <a:custGeom>
              <a:avLst/>
              <a:gdLst/>
              <a:ahLst/>
              <a:cxnLst/>
              <a:rect l="l" t="t" r="r" b="b"/>
              <a:pathLst>
                <a:path w="1063268" h="1917595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1840888"/>
                  </a:lnTo>
                  <a:cubicBezTo>
                    <a:pt x="1063268" y="1883252"/>
                    <a:pt x="1028925" y="1917595"/>
                    <a:pt x="986560" y="1917595"/>
                  </a:cubicBezTo>
                  <a:lnTo>
                    <a:pt x="76708" y="1917595"/>
                  </a:lnTo>
                  <a:cubicBezTo>
                    <a:pt x="56364" y="1917595"/>
                    <a:pt x="36853" y="1909514"/>
                    <a:pt x="22467" y="1895128"/>
                  </a:cubicBezTo>
                  <a:cubicBezTo>
                    <a:pt x="8082" y="1880743"/>
                    <a:pt x="0" y="1861232"/>
                    <a:pt x="0" y="1840888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063268" cy="188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349820" y="2656673"/>
            <a:ext cx="3313021" cy="129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Limitations of Current Solutions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9820" y="4465779"/>
            <a:ext cx="3313021" cy="128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Rely heavily on outdated techniques like rule-based filters and keyword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35818" y="2656673"/>
            <a:ext cx="3313021" cy="129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Proposed Fraud Detection Framework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9229" y="4465779"/>
            <a:ext cx="3313021" cy="226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Uncover fake job patterns across multiple listings.</a:t>
            </a:r>
          </a:p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Identifying ghost employer networks spanning across platforms.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21816" y="2656673"/>
            <a:ext cx="3313021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Key Techniques &amp; Impact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25226" y="4465779"/>
            <a:ext cx="3313021" cy="290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Analyzes text patterns, job characteristics, and employer behaviors.</a:t>
            </a:r>
          </a:p>
          <a:p>
            <a:pPr marL="430316" lvl="1" indent="-215158" algn="l">
              <a:lnSpc>
                <a:spcPts val="2591"/>
              </a:lnSpc>
              <a:buFont typeface="Arial"/>
              <a:buChar char="•"/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Improves fraud detection accuracy, enhances platform integrity, and ensures user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89305">
            <a:off x="16825028" y="1429891"/>
            <a:ext cx="3870256" cy="2322153"/>
          </a:xfrm>
          <a:custGeom>
            <a:avLst/>
            <a:gdLst/>
            <a:ahLst/>
            <a:cxnLst/>
            <a:rect l="l" t="t" r="r" b="b"/>
            <a:pathLst>
              <a:path w="3870256" h="2322153">
                <a:moveTo>
                  <a:pt x="0" y="0"/>
                </a:moveTo>
                <a:lnTo>
                  <a:pt x="3870255" y="0"/>
                </a:lnTo>
                <a:lnTo>
                  <a:pt x="3870255" y="2322153"/>
                </a:lnTo>
                <a:lnTo>
                  <a:pt x="0" y="2322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640080" y="5143500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8"/>
                </a:lnTo>
                <a:lnTo>
                  <a:pt x="0" y="837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935705">
            <a:off x="17055529" y="-597206"/>
            <a:ext cx="2818696" cy="3539458"/>
          </a:xfrm>
          <a:custGeom>
            <a:avLst/>
            <a:gdLst/>
            <a:ahLst/>
            <a:cxnLst/>
            <a:rect l="l" t="t" r="r" b="b"/>
            <a:pathLst>
              <a:path w="2818696" h="3539458">
                <a:moveTo>
                  <a:pt x="0" y="0"/>
                </a:moveTo>
                <a:lnTo>
                  <a:pt x="2818696" y="0"/>
                </a:lnTo>
                <a:lnTo>
                  <a:pt x="2818696" y="3539458"/>
                </a:lnTo>
                <a:lnTo>
                  <a:pt x="0" y="3539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4282823">
            <a:off x="15367039" y="7622175"/>
            <a:ext cx="3163993" cy="4328846"/>
          </a:xfrm>
          <a:custGeom>
            <a:avLst/>
            <a:gdLst/>
            <a:ahLst/>
            <a:cxnLst/>
            <a:rect l="l" t="t" r="r" b="b"/>
            <a:pathLst>
              <a:path w="3163993" h="4328846">
                <a:moveTo>
                  <a:pt x="0" y="0"/>
                </a:moveTo>
                <a:lnTo>
                  <a:pt x="3163994" y="0"/>
                </a:lnTo>
                <a:lnTo>
                  <a:pt x="3163994" y="4328846"/>
                </a:lnTo>
                <a:lnTo>
                  <a:pt x="0" y="4328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00365" y="8485864"/>
            <a:ext cx="5251977" cy="4759605"/>
          </a:xfrm>
          <a:custGeom>
            <a:avLst/>
            <a:gdLst/>
            <a:ahLst/>
            <a:cxnLst/>
            <a:rect l="l" t="t" r="r" b="b"/>
            <a:pathLst>
              <a:path w="5251977" h="4759605">
                <a:moveTo>
                  <a:pt x="0" y="0"/>
                </a:moveTo>
                <a:lnTo>
                  <a:pt x="5251978" y="0"/>
                </a:lnTo>
                <a:lnTo>
                  <a:pt x="5251978" y="4759604"/>
                </a:lnTo>
                <a:lnTo>
                  <a:pt x="0" y="475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270180" y="3700708"/>
            <a:ext cx="7292917" cy="2558973"/>
            <a:chOff x="0" y="0"/>
            <a:chExt cx="1742040" cy="6112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42041" cy="611255"/>
            </a:xfrm>
            <a:custGeom>
              <a:avLst/>
              <a:gdLst/>
              <a:ahLst/>
              <a:cxnLst/>
              <a:rect l="l" t="t" r="r" b="b"/>
              <a:pathLst>
                <a:path w="1742041" h="611255">
                  <a:moveTo>
                    <a:pt x="12739" y="0"/>
                  </a:moveTo>
                  <a:lnTo>
                    <a:pt x="1729302" y="0"/>
                  </a:lnTo>
                  <a:cubicBezTo>
                    <a:pt x="1736337" y="0"/>
                    <a:pt x="1742041" y="5703"/>
                    <a:pt x="1742041" y="12739"/>
                  </a:cubicBezTo>
                  <a:lnTo>
                    <a:pt x="1742041" y="598517"/>
                  </a:lnTo>
                  <a:cubicBezTo>
                    <a:pt x="1742041" y="605552"/>
                    <a:pt x="1736337" y="611255"/>
                    <a:pt x="1729302" y="611255"/>
                  </a:cubicBezTo>
                  <a:lnTo>
                    <a:pt x="12739" y="611255"/>
                  </a:lnTo>
                  <a:cubicBezTo>
                    <a:pt x="5703" y="611255"/>
                    <a:pt x="0" y="605552"/>
                    <a:pt x="0" y="598517"/>
                  </a:cubicBezTo>
                  <a:lnTo>
                    <a:pt x="0" y="12739"/>
                  </a:lnTo>
                  <a:cubicBezTo>
                    <a:pt x="0" y="5703"/>
                    <a:pt x="5703" y="0"/>
                    <a:pt x="12739" y="0"/>
                  </a:cubicBezTo>
                  <a:close/>
                </a:path>
              </a:pathLst>
            </a:custGeom>
            <a:solidFill>
              <a:srgbClr val="ADB4E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742040" cy="735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4903" y="3700708"/>
            <a:ext cx="7292917" cy="2558973"/>
            <a:chOff x="0" y="0"/>
            <a:chExt cx="1742040" cy="6112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2041" cy="611255"/>
            </a:xfrm>
            <a:custGeom>
              <a:avLst/>
              <a:gdLst/>
              <a:ahLst/>
              <a:cxnLst/>
              <a:rect l="l" t="t" r="r" b="b"/>
              <a:pathLst>
                <a:path w="1742041" h="611255">
                  <a:moveTo>
                    <a:pt x="12739" y="0"/>
                  </a:moveTo>
                  <a:lnTo>
                    <a:pt x="1729302" y="0"/>
                  </a:lnTo>
                  <a:cubicBezTo>
                    <a:pt x="1736337" y="0"/>
                    <a:pt x="1742041" y="5703"/>
                    <a:pt x="1742041" y="12739"/>
                  </a:cubicBezTo>
                  <a:lnTo>
                    <a:pt x="1742041" y="598517"/>
                  </a:lnTo>
                  <a:cubicBezTo>
                    <a:pt x="1742041" y="605552"/>
                    <a:pt x="1736337" y="611255"/>
                    <a:pt x="1729302" y="611255"/>
                  </a:cubicBezTo>
                  <a:lnTo>
                    <a:pt x="12739" y="611255"/>
                  </a:lnTo>
                  <a:cubicBezTo>
                    <a:pt x="5703" y="611255"/>
                    <a:pt x="0" y="605552"/>
                    <a:pt x="0" y="598517"/>
                  </a:cubicBezTo>
                  <a:lnTo>
                    <a:pt x="0" y="12739"/>
                  </a:lnTo>
                  <a:cubicBezTo>
                    <a:pt x="0" y="5703"/>
                    <a:pt x="5703" y="0"/>
                    <a:pt x="12739" y="0"/>
                  </a:cubicBezTo>
                  <a:close/>
                </a:path>
              </a:pathLst>
            </a:custGeom>
            <a:solidFill>
              <a:srgbClr val="ADB4E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1742040" cy="735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39775" y="4288679"/>
            <a:ext cx="6353727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Enhances platform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credibility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, attracting more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legitimate 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employers and job seekers.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94498" y="4288679"/>
            <a:ext cx="6353727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0"/>
              </a:lnSpc>
            </a:pPr>
            <a:r>
              <a:rPr lang="en-US" sz="3000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Safeguards user trust by </a:t>
            </a:r>
            <a:r>
              <a:rPr lang="en-US" sz="3000" b="1" dirty="0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accurately </a:t>
            </a:r>
            <a:r>
              <a:rPr lang="en-US" sz="3000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identifying and flagging </a:t>
            </a:r>
            <a:r>
              <a:rPr lang="en-US" sz="3000" b="1" dirty="0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fraudulent </a:t>
            </a:r>
            <a:r>
              <a:rPr lang="en-US" sz="3000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job postings.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70180" y="6436683"/>
            <a:ext cx="7292917" cy="2558973"/>
            <a:chOff x="0" y="0"/>
            <a:chExt cx="1742040" cy="6112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42041" cy="611255"/>
            </a:xfrm>
            <a:custGeom>
              <a:avLst/>
              <a:gdLst/>
              <a:ahLst/>
              <a:cxnLst/>
              <a:rect l="l" t="t" r="r" b="b"/>
              <a:pathLst>
                <a:path w="1742041" h="611255">
                  <a:moveTo>
                    <a:pt x="12739" y="0"/>
                  </a:moveTo>
                  <a:lnTo>
                    <a:pt x="1729302" y="0"/>
                  </a:lnTo>
                  <a:cubicBezTo>
                    <a:pt x="1736337" y="0"/>
                    <a:pt x="1742041" y="5703"/>
                    <a:pt x="1742041" y="12739"/>
                  </a:cubicBezTo>
                  <a:lnTo>
                    <a:pt x="1742041" y="598517"/>
                  </a:lnTo>
                  <a:cubicBezTo>
                    <a:pt x="1742041" y="605552"/>
                    <a:pt x="1736337" y="611255"/>
                    <a:pt x="1729302" y="611255"/>
                  </a:cubicBezTo>
                  <a:lnTo>
                    <a:pt x="12739" y="611255"/>
                  </a:lnTo>
                  <a:cubicBezTo>
                    <a:pt x="5703" y="611255"/>
                    <a:pt x="0" y="605552"/>
                    <a:pt x="0" y="598517"/>
                  </a:cubicBezTo>
                  <a:lnTo>
                    <a:pt x="0" y="12739"/>
                  </a:lnTo>
                  <a:cubicBezTo>
                    <a:pt x="0" y="5703"/>
                    <a:pt x="5703" y="0"/>
                    <a:pt x="12739" y="0"/>
                  </a:cubicBezTo>
                  <a:close/>
                </a:path>
              </a:pathLst>
            </a:custGeom>
            <a:solidFill>
              <a:srgbClr val="ADB4E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1742040" cy="735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24903" y="6436683"/>
            <a:ext cx="7292917" cy="2558973"/>
            <a:chOff x="0" y="0"/>
            <a:chExt cx="1742040" cy="611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42041" cy="611255"/>
            </a:xfrm>
            <a:custGeom>
              <a:avLst/>
              <a:gdLst/>
              <a:ahLst/>
              <a:cxnLst/>
              <a:rect l="l" t="t" r="r" b="b"/>
              <a:pathLst>
                <a:path w="1742041" h="611255">
                  <a:moveTo>
                    <a:pt x="12739" y="0"/>
                  </a:moveTo>
                  <a:lnTo>
                    <a:pt x="1729302" y="0"/>
                  </a:lnTo>
                  <a:cubicBezTo>
                    <a:pt x="1736337" y="0"/>
                    <a:pt x="1742041" y="5703"/>
                    <a:pt x="1742041" y="12739"/>
                  </a:cubicBezTo>
                  <a:lnTo>
                    <a:pt x="1742041" y="598517"/>
                  </a:lnTo>
                  <a:cubicBezTo>
                    <a:pt x="1742041" y="605552"/>
                    <a:pt x="1736337" y="611255"/>
                    <a:pt x="1729302" y="611255"/>
                  </a:cubicBezTo>
                  <a:lnTo>
                    <a:pt x="12739" y="611255"/>
                  </a:lnTo>
                  <a:cubicBezTo>
                    <a:pt x="5703" y="611255"/>
                    <a:pt x="0" y="605552"/>
                    <a:pt x="0" y="598517"/>
                  </a:cubicBezTo>
                  <a:lnTo>
                    <a:pt x="0" y="12739"/>
                  </a:lnTo>
                  <a:cubicBezTo>
                    <a:pt x="0" y="5703"/>
                    <a:pt x="5703" y="0"/>
                    <a:pt x="12739" y="0"/>
                  </a:cubicBezTo>
                  <a:close/>
                </a:path>
              </a:pathLst>
            </a:custGeom>
            <a:solidFill>
              <a:srgbClr val="ADB4E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1742040" cy="735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2" indent="0" algn="ctr">
                <a:lnSpc>
                  <a:spcPts val="585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39775" y="7030776"/>
            <a:ext cx="6353727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Adapts to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real-world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 data, staying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resilient 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against evolving scam strategies.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4498" y="7030776"/>
            <a:ext cx="6353727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0"/>
              </a:lnSpc>
            </a:pP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Enables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early detection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 of coordinated fraud through </a:t>
            </a:r>
            <a:r>
              <a:rPr lang="en-US" sz="3000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proactive </a:t>
            </a:r>
            <a:r>
              <a:rPr lang="en-US" sz="300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risk management.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5624" y="1762121"/>
            <a:ext cx="14036752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39"/>
              </a:lnSpc>
            </a:pPr>
            <a:r>
              <a:rPr lang="en-US" sz="6399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Goal and Dataset</a:t>
            </a:r>
          </a:p>
        </p:txBody>
      </p:sp>
      <p:sp>
        <p:nvSpPr>
          <p:cNvPr id="24" name="Freeform 24"/>
          <p:cNvSpPr/>
          <p:nvPr/>
        </p:nvSpPr>
        <p:spPr>
          <a:xfrm>
            <a:off x="360054" y="7596340"/>
            <a:ext cx="668646" cy="2270094"/>
          </a:xfrm>
          <a:custGeom>
            <a:avLst/>
            <a:gdLst/>
            <a:ahLst/>
            <a:cxnLst/>
            <a:rect l="l" t="t" r="r" b="b"/>
            <a:pathLst>
              <a:path w="668646" h="2270094">
                <a:moveTo>
                  <a:pt x="0" y="0"/>
                </a:moveTo>
                <a:lnTo>
                  <a:pt x="668646" y="0"/>
                </a:lnTo>
                <a:lnTo>
                  <a:pt x="668646" y="2270093"/>
                </a:lnTo>
                <a:lnTo>
                  <a:pt x="0" y="227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-573341">
            <a:off x="-1064377" y="427372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10"/>
                </a:lnTo>
                <a:lnTo>
                  <a:pt x="0" y="883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CDF577-E27D-716D-1EEB-B4B062F2EFAD}"/>
              </a:ext>
            </a:extLst>
          </p:cNvPr>
          <p:cNvSpPr txBox="1"/>
          <p:nvPr/>
        </p:nvSpPr>
        <p:spPr>
          <a:xfrm>
            <a:off x="1960889" y="2455767"/>
            <a:ext cx="14618574" cy="8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lvl="0" indent="0" algn="ctr">
              <a:lnSpc>
                <a:spcPct val="150000"/>
              </a:lnSpc>
            </a:pPr>
            <a:r>
              <a:rPr lang="en-US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We are using </a:t>
            </a:r>
            <a:r>
              <a:rPr lang="en-US" b="1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Upwork </a:t>
            </a:r>
            <a:r>
              <a:rPr lang="en-US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online recruitment platform dataset, publicly available In Kaggle, which is </a:t>
            </a:r>
            <a:r>
              <a:rPr lang="en-US" b="1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un-labelled</a:t>
            </a:r>
            <a:r>
              <a:rPr lang="en-US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 and contains </a:t>
            </a:r>
            <a:r>
              <a:rPr lang="en-US" b="1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textual </a:t>
            </a:r>
            <a:r>
              <a:rPr lang="en-US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like Job Title, Description etc. and </a:t>
            </a:r>
            <a:r>
              <a:rPr lang="en-US" b="1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structured metadata </a:t>
            </a:r>
            <a:r>
              <a:rPr lang="en-US" dirty="0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like Salary, Country etc. for the Job Postings.</a:t>
            </a:r>
            <a:endParaRPr lang="en-US" sz="1800" dirty="0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846624">
            <a:off x="14435808" y="821102"/>
            <a:ext cx="3941787" cy="3246599"/>
          </a:xfrm>
          <a:custGeom>
            <a:avLst/>
            <a:gdLst/>
            <a:ahLst/>
            <a:cxnLst/>
            <a:rect l="l" t="t" r="r" b="b"/>
            <a:pathLst>
              <a:path w="3941787" h="3246599">
                <a:moveTo>
                  <a:pt x="0" y="0"/>
                </a:moveTo>
                <a:lnTo>
                  <a:pt x="3941787" y="0"/>
                </a:lnTo>
                <a:lnTo>
                  <a:pt x="3941787" y="3246599"/>
                </a:lnTo>
                <a:lnTo>
                  <a:pt x="0" y="3246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933976">
            <a:off x="11902243" y="4630610"/>
            <a:ext cx="5959385" cy="6309559"/>
            <a:chOff x="0" y="0"/>
            <a:chExt cx="879080" cy="9307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9080" cy="930735"/>
            </a:xfrm>
            <a:custGeom>
              <a:avLst/>
              <a:gdLst/>
              <a:ahLst/>
              <a:cxnLst/>
              <a:rect l="l" t="t" r="r" b="b"/>
              <a:pathLst>
                <a:path w="879080" h="930735">
                  <a:moveTo>
                    <a:pt x="0" y="0"/>
                  </a:moveTo>
                  <a:lnTo>
                    <a:pt x="879080" y="0"/>
                  </a:lnTo>
                  <a:lnTo>
                    <a:pt x="879080" y="930735"/>
                  </a:lnTo>
                  <a:lnTo>
                    <a:pt x="0" y="930735"/>
                  </a:ln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879080" cy="902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936327">
            <a:off x="12117995" y="4874253"/>
            <a:ext cx="5525801" cy="5820985"/>
            <a:chOff x="0" y="0"/>
            <a:chExt cx="812800" cy="8562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56219"/>
            </a:xfrm>
            <a:custGeom>
              <a:avLst/>
              <a:gdLst/>
              <a:ahLst/>
              <a:cxnLst/>
              <a:rect l="l" t="t" r="r" b="b"/>
              <a:pathLst>
                <a:path w="812800" h="856219">
                  <a:moveTo>
                    <a:pt x="0" y="0"/>
                  </a:moveTo>
                  <a:lnTo>
                    <a:pt x="812800" y="0"/>
                  </a:lnTo>
                  <a:lnTo>
                    <a:pt x="812800" y="856219"/>
                  </a:lnTo>
                  <a:lnTo>
                    <a:pt x="0" y="856219"/>
                  </a:lnTo>
                  <a:close/>
                </a:path>
              </a:pathLst>
            </a:custGeom>
            <a:blipFill>
              <a:blip r:embed="rId3"/>
              <a:stretch>
                <a:fillRect l="-107815" r="-1078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 rot="-923607">
            <a:off x="12253775" y="4208037"/>
            <a:ext cx="3423594" cy="883910"/>
          </a:xfrm>
          <a:custGeom>
            <a:avLst/>
            <a:gdLst/>
            <a:ahLst/>
            <a:cxnLst/>
            <a:rect l="l" t="t" r="r" b="b"/>
            <a:pathLst>
              <a:path w="3423594" h="883910">
                <a:moveTo>
                  <a:pt x="0" y="0"/>
                </a:moveTo>
                <a:lnTo>
                  <a:pt x="3423594" y="0"/>
                </a:lnTo>
                <a:lnTo>
                  <a:pt x="3423594" y="883909"/>
                </a:lnTo>
                <a:lnTo>
                  <a:pt x="0" y="883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555508" y="7632865"/>
            <a:ext cx="5134940" cy="4653539"/>
          </a:xfrm>
          <a:custGeom>
            <a:avLst/>
            <a:gdLst/>
            <a:ahLst/>
            <a:cxnLst/>
            <a:rect l="l" t="t" r="r" b="b"/>
            <a:pathLst>
              <a:path w="5134940" h="4653539">
                <a:moveTo>
                  <a:pt x="0" y="0"/>
                </a:moveTo>
                <a:lnTo>
                  <a:pt x="5134940" y="0"/>
                </a:lnTo>
                <a:lnTo>
                  <a:pt x="5134940" y="4653539"/>
                </a:lnTo>
                <a:lnTo>
                  <a:pt x="0" y="4653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76270">
            <a:off x="-71226" y="9370721"/>
            <a:ext cx="1737942" cy="993607"/>
          </a:xfrm>
          <a:custGeom>
            <a:avLst/>
            <a:gdLst/>
            <a:ahLst/>
            <a:cxnLst/>
            <a:rect l="l" t="t" r="r" b="b"/>
            <a:pathLst>
              <a:path w="1737942" h="993607">
                <a:moveTo>
                  <a:pt x="0" y="0"/>
                </a:moveTo>
                <a:lnTo>
                  <a:pt x="1737942" y="0"/>
                </a:lnTo>
                <a:lnTo>
                  <a:pt x="1737942" y="993608"/>
                </a:lnTo>
                <a:lnTo>
                  <a:pt x="0" y="99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93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2808" y="2096583"/>
            <a:ext cx="4037096" cy="3374067"/>
            <a:chOff x="0" y="0"/>
            <a:chExt cx="1063268" cy="8886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2808" y="5737017"/>
            <a:ext cx="4037096" cy="3374067"/>
            <a:chOff x="0" y="0"/>
            <a:chExt cx="1063268" cy="8886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21966" y="2112739"/>
            <a:ext cx="4037096" cy="3374067"/>
            <a:chOff x="0" y="0"/>
            <a:chExt cx="1063268" cy="8886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21966" y="5753174"/>
            <a:ext cx="4037096" cy="3374067"/>
            <a:chOff x="0" y="0"/>
            <a:chExt cx="1063268" cy="8886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35288" y="2096583"/>
            <a:ext cx="4037096" cy="3374067"/>
            <a:chOff x="0" y="0"/>
            <a:chExt cx="1063268" cy="8886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35288" y="5737017"/>
            <a:ext cx="4037096" cy="3374067"/>
            <a:chOff x="0" y="0"/>
            <a:chExt cx="1063268" cy="8886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3268" cy="888643"/>
            </a:xfrm>
            <a:custGeom>
              <a:avLst/>
              <a:gdLst/>
              <a:ahLst/>
              <a:cxnLst/>
              <a:rect l="l" t="t" r="r" b="b"/>
              <a:pathLst>
                <a:path w="1063268" h="888643">
                  <a:moveTo>
                    <a:pt x="76708" y="0"/>
                  </a:moveTo>
                  <a:lnTo>
                    <a:pt x="986560" y="0"/>
                  </a:lnTo>
                  <a:cubicBezTo>
                    <a:pt x="1006905" y="0"/>
                    <a:pt x="1026415" y="8082"/>
                    <a:pt x="1040801" y="22467"/>
                  </a:cubicBezTo>
                  <a:cubicBezTo>
                    <a:pt x="1055186" y="36853"/>
                    <a:pt x="1063268" y="56364"/>
                    <a:pt x="1063268" y="76708"/>
                  </a:cubicBezTo>
                  <a:lnTo>
                    <a:pt x="1063268" y="811935"/>
                  </a:lnTo>
                  <a:cubicBezTo>
                    <a:pt x="1063268" y="832279"/>
                    <a:pt x="1055186" y="851790"/>
                    <a:pt x="1040801" y="866176"/>
                  </a:cubicBezTo>
                  <a:cubicBezTo>
                    <a:pt x="1026415" y="880561"/>
                    <a:pt x="1006905" y="888643"/>
                    <a:pt x="986560" y="888643"/>
                  </a:cubicBezTo>
                  <a:lnTo>
                    <a:pt x="76708" y="888643"/>
                  </a:lnTo>
                  <a:cubicBezTo>
                    <a:pt x="56364" y="888643"/>
                    <a:pt x="36853" y="880561"/>
                    <a:pt x="22467" y="866176"/>
                  </a:cubicBezTo>
                  <a:cubicBezTo>
                    <a:pt x="8082" y="851790"/>
                    <a:pt x="0" y="832279"/>
                    <a:pt x="0" y="811935"/>
                  </a:cubicBezTo>
                  <a:lnTo>
                    <a:pt x="0" y="76708"/>
                  </a:lnTo>
                  <a:cubicBezTo>
                    <a:pt x="0" y="56364"/>
                    <a:pt x="8082" y="36853"/>
                    <a:pt x="22467" y="22467"/>
                  </a:cubicBezTo>
                  <a:cubicBezTo>
                    <a:pt x="36853" y="8082"/>
                    <a:pt x="56364" y="0"/>
                    <a:pt x="76708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1063268" cy="86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116164" y="728835"/>
            <a:ext cx="1322640" cy="1658483"/>
          </a:xfrm>
          <a:custGeom>
            <a:avLst/>
            <a:gdLst/>
            <a:ahLst/>
            <a:cxnLst/>
            <a:rect l="l" t="t" r="r" b="b"/>
            <a:pathLst>
              <a:path w="1322640" h="1658483">
                <a:moveTo>
                  <a:pt x="0" y="0"/>
                </a:moveTo>
                <a:lnTo>
                  <a:pt x="1322641" y="0"/>
                </a:lnTo>
                <a:lnTo>
                  <a:pt x="1322641" y="1658483"/>
                </a:lnTo>
                <a:lnTo>
                  <a:pt x="0" y="1658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883898" y="728835"/>
            <a:ext cx="1052020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16"/>
              </a:lnSpc>
            </a:pPr>
            <a:r>
              <a:rPr lang="en-US" sz="5180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Model Implentation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896" y="2768411"/>
            <a:ext cx="3086629" cy="238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</a:pPr>
            <a:r>
              <a:rPr lang="en-US" sz="2794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1. Sentence Transformer (DistilBERT) → Cosine similarity clustering</a:t>
            </a:r>
          </a:p>
          <a:p>
            <a:pPr marL="0" lvl="0" indent="0" algn="ctr">
              <a:lnSpc>
                <a:spcPts val="3074"/>
              </a:lnSpc>
            </a:pPr>
            <a:endParaRPr lang="en-US" sz="2794" b="1">
              <a:solidFill>
                <a:srgbClr val="0F1113"/>
              </a:solidFill>
              <a:latin typeface="Now Heavy"/>
              <a:ea typeface="Now Heavy"/>
              <a:cs typeface="Now Heavy"/>
              <a:sym typeface="Now Heavy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74845" y="6439817"/>
            <a:ext cx="3313021" cy="190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4. Anomaly detection using TabNet’s reconstruction error for  fake jobs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84004" y="2946332"/>
            <a:ext cx="3313021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2. TabNet classification using weighted loss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84004" y="6314352"/>
            <a:ext cx="3313021" cy="228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5. Imbalance Handling: Used class weights, not oversampling, to preserve data integrity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97325" y="2783772"/>
            <a:ext cx="3313021" cy="206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50"/>
              </a:lnSpc>
            </a:pPr>
            <a:r>
              <a:rPr lang="en-US" sz="25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3. Unsupervised + Supervised: Clustering to detect pattern groups; TabNet to catch metadata fraud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97325" y="6211201"/>
            <a:ext cx="3313021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90"/>
              </a:lnSpc>
            </a:pPr>
            <a:r>
              <a:rPr lang="en-US" sz="2900" b="1">
                <a:solidFill>
                  <a:srgbClr val="0F1113"/>
                </a:solidFill>
                <a:latin typeface="Now Heavy"/>
                <a:ea typeface="Now Heavy"/>
                <a:cs typeface="Now Heavy"/>
                <a:sym typeface="Now Heavy"/>
              </a:rPr>
              <a:t>6. Combining Textual and structured context results/clusters to find fake jobs.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B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729">
            <a:off x="14715516" y="1279761"/>
            <a:ext cx="2960821" cy="3717926"/>
          </a:xfrm>
          <a:custGeom>
            <a:avLst/>
            <a:gdLst/>
            <a:ahLst/>
            <a:cxnLst/>
            <a:rect l="l" t="t" r="r" b="b"/>
            <a:pathLst>
              <a:path w="2960821" h="3717926">
                <a:moveTo>
                  <a:pt x="0" y="0"/>
                </a:moveTo>
                <a:lnTo>
                  <a:pt x="2960821" y="0"/>
                </a:lnTo>
                <a:lnTo>
                  <a:pt x="2960821" y="3717926"/>
                </a:lnTo>
                <a:lnTo>
                  <a:pt x="0" y="3717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143234" y="1808511"/>
            <a:ext cx="5959385" cy="5510065"/>
            <a:chOff x="0" y="0"/>
            <a:chExt cx="87908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9080" cy="812800"/>
            </a:xfrm>
            <a:custGeom>
              <a:avLst/>
              <a:gdLst/>
              <a:ahLst/>
              <a:cxnLst/>
              <a:rect l="l" t="t" r="r" b="b"/>
              <a:pathLst>
                <a:path w="879080" h="812800">
                  <a:moveTo>
                    <a:pt x="0" y="0"/>
                  </a:moveTo>
                  <a:lnTo>
                    <a:pt x="879080" y="0"/>
                  </a:lnTo>
                  <a:lnTo>
                    <a:pt x="8790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87908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765105"/>
            <a:ext cx="9675576" cy="8756789"/>
            <a:chOff x="0" y="0"/>
            <a:chExt cx="2548300" cy="2306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48300" cy="2306315"/>
            </a:xfrm>
            <a:custGeom>
              <a:avLst/>
              <a:gdLst/>
              <a:ahLst/>
              <a:cxnLst/>
              <a:rect l="l" t="t" r="r" b="b"/>
              <a:pathLst>
                <a:path w="2548300" h="2306315">
                  <a:moveTo>
                    <a:pt x="32006" y="0"/>
                  </a:moveTo>
                  <a:lnTo>
                    <a:pt x="2516294" y="0"/>
                  </a:lnTo>
                  <a:cubicBezTo>
                    <a:pt x="2524782" y="0"/>
                    <a:pt x="2532923" y="3372"/>
                    <a:pt x="2538925" y="9374"/>
                  </a:cubicBezTo>
                  <a:cubicBezTo>
                    <a:pt x="2544928" y="15377"/>
                    <a:pt x="2548300" y="23518"/>
                    <a:pt x="2548300" y="32006"/>
                  </a:cubicBezTo>
                  <a:lnTo>
                    <a:pt x="2548300" y="2274309"/>
                  </a:lnTo>
                  <a:cubicBezTo>
                    <a:pt x="2548300" y="2282797"/>
                    <a:pt x="2544928" y="2290938"/>
                    <a:pt x="2538925" y="2296940"/>
                  </a:cubicBezTo>
                  <a:cubicBezTo>
                    <a:pt x="2532923" y="2302943"/>
                    <a:pt x="2524782" y="2306315"/>
                    <a:pt x="2516294" y="2306315"/>
                  </a:cubicBezTo>
                  <a:lnTo>
                    <a:pt x="32006" y="2306315"/>
                  </a:lnTo>
                  <a:cubicBezTo>
                    <a:pt x="23518" y="2306315"/>
                    <a:pt x="15377" y="2302943"/>
                    <a:pt x="9374" y="2296940"/>
                  </a:cubicBezTo>
                  <a:cubicBezTo>
                    <a:pt x="3372" y="2290938"/>
                    <a:pt x="0" y="2282797"/>
                    <a:pt x="0" y="2274309"/>
                  </a:cubicBezTo>
                  <a:lnTo>
                    <a:pt x="0" y="32006"/>
                  </a:lnTo>
                  <a:cubicBezTo>
                    <a:pt x="0" y="23518"/>
                    <a:pt x="3372" y="15377"/>
                    <a:pt x="9374" y="9374"/>
                  </a:cubicBezTo>
                  <a:cubicBezTo>
                    <a:pt x="15377" y="3372"/>
                    <a:pt x="23518" y="0"/>
                    <a:pt x="32006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548300" cy="2277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27378" y="2091940"/>
            <a:ext cx="5391099" cy="4943208"/>
            <a:chOff x="0" y="0"/>
            <a:chExt cx="886446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6446" cy="812800"/>
            </a:xfrm>
            <a:custGeom>
              <a:avLst/>
              <a:gdLst/>
              <a:ahLst/>
              <a:cxnLst/>
              <a:rect l="l" t="t" r="r" b="b"/>
              <a:pathLst>
                <a:path w="886446" h="812800">
                  <a:moveTo>
                    <a:pt x="0" y="0"/>
                  </a:moveTo>
                  <a:lnTo>
                    <a:pt x="886446" y="0"/>
                  </a:lnTo>
                  <a:lnTo>
                    <a:pt x="88644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8812" r="-188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 rot="-134584">
            <a:off x="12798350" y="1466530"/>
            <a:ext cx="2649154" cy="683963"/>
          </a:xfrm>
          <a:custGeom>
            <a:avLst/>
            <a:gdLst/>
            <a:ahLst/>
            <a:cxnLst/>
            <a:rect l="l" t="t" r="r" b="b"/>
            <a:pathLst>
              <a:path w="2649154" h="683963">
                <a:moveTo>
                  <a:pt x="0" y="0"/>
                </a:moveTo>
                <a:lnTo>
                  <a:pt x="2649154" y="0"/>
                </a:lnTo>
                <a:lnTo>
                  <a:pt x="2649154" y="683963"/>
                </a:lnTo>
                <a:lnTo>
                  <a:pt x="0" y="683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1065041" y="7640313"/>
            <a:ext cx="6194259" cy="1617987"/>
            <a:chOff x="0" y="0"/>
            <a:chExt cx="1569550" cy="4099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9550" cy="409978"/>
            </a:xfrm>
            <a:custGeom>
              <a:avLst/>
              <a:gdLst/>
              <a:ahLst/>
              <a:cxnLst/>
              <a:rect l="l" t="t" r="r" b="b"/>
              <a:pathLst>
                <a:path w="1569550" h="409978">
                  <a:moveTo>
                    <a:pt x="14998" y="0"/>
                  </a:moveTo>
                  <a:lnTo>
                    <a:pt x="1554552" y="0"/>
                  </a:lnTo>
                  <a:cubicBezTo>
                    <a:pt x="1558529" y="0"/>
                    <a:pt x="1562344" y="1580"/>
                    <a:pt x="1565157" y="4393"/>
                  </a:cubicBezTo>
                  <a:cubicBezTo>
                    <a:pt x="1567970" y="7206"/>
                    <a:pt x="1569550" y="11020"/>
                    <a:pt x="1569550" y="14998"/>
                  </a:cubicBezTo>
                  <a:lnTo>
                    <a:pt x="1569550" y="394980"/>
                  </a:lnTo>
                  <a:cubicBezTo>
                    <a:pt x="1569550" y="403263"/>
                    <a:pt x="1562835" y="409978"/>
                    <a:pt x="1554552" y="409978"/>
                  </a:cubicBezTo>
                  <a:lnTo>
                    <a:pt x="14998" y="409978"/>
                  </a:lnTo>
                  <a:cubicBezTo>
                    <a:pt x="6715" y="409978"/>
                    <a:pt x="0" y="403263"/>
                    <a:pt x="0" y="394980"/>
                  </a:cubicBezTo>
                  <a:lnTo>
                    <a:pt x="0" y="14998"/>
                  </a:lnTo>
                  <a:cubicBezTo>
                    <a:pt x="0" y="6715"/>
                    <a:pt x="6715" y="0"/>
                    <a:pt x="14998" y="0"/>
                  </a:cubicBezTo>
                  <a:close/>
                </a:path>
              </a:pathLst>
            </a:custGeom>
            <a:solidFill>
              <a:srgbClr val="E7EB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69550" cy="467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7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04775" y="1372484"/>
            <a:ext cx="7923426" cy="148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30"/>
              </a:lnSpc>
            </a:pPr>
            <a:r>
              <a:rPr lang="en-US" sz="5300" b="1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Performance &amp;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89020" y="8109804"/>
            <a:ext cx="5546301" cy="65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5"/>
              </a:lnSpc>
            </a:pPr>
            <a:r>
              <a:rPr lang="en-US" sz="2035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Only 16 lis</a:t>
            </a:r>
            <a:r>
              <a:rPr lang="en-US" sz="2035" b="1" u="none" strike="noStrike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tings flagged by both methods, highlighting complementary strengths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04095" y="3512976"/>
            <a:ext cx="3313021" cy="88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9"/>
              </a:lnSpc>
            </a:pPr>
            <a:r>
              <a:rPr lang="en-US" sz="6199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0.5663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17116" y="3325563"/>
            <a:ext cx="4311085" cy="107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593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Silhouette Score</a:t>
            </a:r>
          </a:p>
          <a:p>
            <a:pPr algn="l">
              <a:lnSpc>
                <a:spcPts val="2591"/>
              </a:lnSpc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Indicates decent cluster cohesion for textual patterns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04095" y="4878905"/>
            <a:ext cx="3313021" cy="88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9"/>
              </a:lnSpc>
            </a:pPr>
            <a:r>
              <a:rPr lang="en-US" sz="6199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84%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04095" y="6144610"/>
            <a:ext cx="3313021" cy="88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9"/>
              </a:lnSpc>
            </a:pPr>
            <a:r>
              <a:rPr lang="en-US" sz="6199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0.86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04095" y="7461159"/>
            <a:ext cx="3313021" cy="88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9"/>
              </a:lnSpc>
            </a:pPr>
            <a:r>
              <a:rPr lang="en-US" sz="6199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0.80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17116" y="4742335"/>
            <a:ext cx="4311085" cy="107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593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Accuracy</a:t>
            </a:r>
          </a:p>
          <a:p>
            <a:pPr algn="l">
              <a:lnSpc>
                <a:spcPts val="2591"/>
              </a:lnSpc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Overall model performance</a:t>
            </a:r>
          </a:p>
          <a:p>
            <a:pPr algn="l">
              <a:lnSpc>
                <a:spcPts val="2591"/>
              </a:lnSpc>
            </a:pPr>
            <a:endParaRPr lang="en-US" sz="1993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517116" y="6058885"/>
            <a:ext cx="4311085" cy="107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593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F1 - Score</a:t>
            </a:r>
          </a:p>
          <a:p>
            <a:pPr algn="l">
              <a:lnSpc>
                <a:spcPts val="2591"/>
              </a:lnSpc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IBalance of precision and recall</a:t>
            </a:r>
          </a:p>
          <a:p>
            <a:pPr algn="l">
              <a:lnSpc>
                <a:spcPts val="2591"/>
              </a:lnSpc>
            </a:pPr>
            <a:endParaRPr lang="en-US" sz="1993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517116" y="7375434"/>
            <a:ext cx="4311085" cy="107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593" b="1">
                <a:solidFill>
                  <a:srgbClr val="0F1113"/>
                </a:solidFill>
                <a:latin typeface="Now Bold"/>
                <a:ea typeface="Now Bold"/>
                <a:cs typeface="Now Bold"/>
                <a:sym typeface="Now Bold"/>
              </a:rPr>
              <a:t>Recall</a:t>
            </a:r>
          </a:p>
          <a:p>
            <a:pPr algn="l">
              <a:lnSpc>
                <a:spcPts val="2591"/>
              </a:lnSpc>
            </a:pPr>
            <a:r>
              <a:rPr lang="en-US" sz="1993">
                <a:solidFill>
                  <a:srgbClr val="0F1113"/>
                </a:solidFill>
                <a:latin typeface="Now"/>
                <a:ea typeface="Now"/>
                <a:cs typeface="Now"/>
                <a:sym typeface="Now"/>
              </a:rPr>
              <a:t>IHigh catch rate for fake job class</a:t>
            </a:r>
          </a:p>
          <a:p>
            <a:pPr algn="l">
              <a:lnSpc>
                <a:spcPts val="2591"/>
              </a:lnSpc>
            </a:pPr>
            <a:endParaRPr lang="en-US" sz="1993">
              <a:solidFill>
                <a:srgbClr val="0F1113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9072" y="925712"/>
            <a:ext cx="16789857" cy="8435576"/>
            <a:chOff x="0" y="0"/>
            <a:chExt cx="4422020" cy="2221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2020" cy="2221715"/>
            </a:xfrm>
            <a:custGeom>
              <a:avLst/>
              <a:gdLst/>
              <a:ahLst/>
              <a:cxnLst/>
              <a:rect l="l" t="t" r="r" b="b"/>
              <a:pathLst>
                <a:path w="4422020" h="2221715">
                  <a:moveTo>
                    <a:pt x="18444" y="0"/>
                  </a:moveTo>
                  <a:lnTo>
                    <a:pt x="4403576" y="0"/>
                  </a:lnTo>
                  <a:cubicBezTo>
                    <a:pt x="4408467" y="0"/>
                    <a:pt x="4413159" y="1943"/>
                    <a:pt x="4416618" y="5402"/>
                  </a:cubicBezTo>
                  <a:cubicBezTo>
                    <a:pt x="4420077" y="8861"/>
                    <a:pt x="4422020" y="13553"/>
                    <a:pt x="4422020" y="18444"/>
                  </a:cubicBezTo>
                  <a:lnTo>
                    <a:pt x="4422020" y="2203271"/>
                  </a:lnTo>
                  <a:cubicBezTo>
                    <a:pt x="4422020" y="2213458"/>
                    <a:pt x="4413762" y="2221715"/>
                    <a:pt x="4403576" y="2221715"/>
                  </a:cubicBezTo>
                  <a:lnTo>
                    <a:pt x="18444" y="2221715"/>
                  </a:lnTo>
                  <a:cubicBezTo>
                    <a:pt x="13553" y="2221715"/>
                    <a:pt x="8861" y="2219772"/>
                    <a:pt x="5402" y="2216313"/>
                  </a:cubicBezTo>
                  <a:cubicBezTo>
                    <a:pt x="1943" y="2212854"/>
                    <a:pt x="0" y="2208163"/>
                    <a:pt x="0" y="2203271"/>
                  </a:cubicBezTo>
                  <a:lnTo>
                    <a:pt x="0" y="18444"/>
                  </a:lnTo>
                  <a:cubicBezTo>
                    <a:pt x="0" y="13553"/>
                    <a:pt x="1943" y="8861"/>
                    <a:pt x="5402" y="5402"/>
                  </a:cubicBezTo>
                  <a:cubicBezTo>
                    <a:pt x="8861" y="1943"/>
                    <a:pt x="13553" y="0"/>
                    <a:pt x="18444" y="0"/>
                  </a:cubicBezTo>
                  <a:close/>
                </a:path>
              </a:pathLst>
            </a:custGeom>
            <a:solidFill>
              <a:srgbClr val="ADB4E4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422020" cy="2193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58673">
            <a:off x="11574390" y="3201566"/>
            <a:ext cx="4980492" cy="4513571"/>
          </a:xfrm>
          <a:custGeom>
            <a:avLst/>
            <a:gdLst/>
            <a:ahLst/>
            <a:cxnLst/>
            <a:rect l="l" t="t" r="r" b="b"/>
            <a:pathLst>
              <a:path w="4980492" h="4513571">
                <a:moveTo>
                  <a:pt x="0" y="0"/>
                </a:moveTo>
                <a:lnTo>
                  <a:pt x="4980492" y="0"/>
                </a:lnTo>
                <a:lnTo>
                  <a:pt x="4980492" y="4513571"/>
                </a:lnTo>
                <a:lnTo>
                  <a:pt x="0" y="4513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-125626">
            <a:off x="2221016" y="3069168"/>
            <a:ext cx="13481469" cy="3759630"/>
            <a:chOff x="0" y="0"/>
            <a:chExt cx="3550675" cy="9901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50675" cy="990191"/>
            </a:xfrm>
            <a:custGeom>
              <a:avLst/>
              <a:gdLst/>
              <a:ahLst/>
              <a:cxnLst/>
              <a:rect l="l" t="t" r="r" b="b"/>
              <a:pathLst>
                <a:path w="3550675" h="990191">
                  <a:moveTo>
                    <a:pt x="20099" y="0"/>
                  </a:moveTo>
                  <a:lnTo>
                    <a:pt x="3530576" y="0"/>
                  </a:lnTo>
                  <a:cubicBezTo>
                    <a:pt x="3541676" y="0"/>
                    <a:pt x="3550675" y="8999"/>
                    <a:pt x="3550675" y="20099"/>
                  </a:cubicBezTo>
                  <a:lnTo>
                    <a:pt x="3550675" y="970091"/>
                  </a:lnTo>
                  <a:cubicBezTo>
                    <a:pt x="3550675" y="981192"/>
                    <a:pt x="3541676" y="990191"/>
                    <a:pt x="3530576" y="990191"/>
                  </a:cubicBezTo>
                  <a:lnTo>
                    <a:pt x="20099" y="990191"/>
                  </a:lnTo>
                  <a:cubicBezTo>
                    <a:pt x="8999" y="990191"/>
                    <a:pt x="0" y="981192"/>
                    <a:pt x="0" y="970091"/>
                  </a:cubicBezTo>
                  <a:lnTo>
                    <a:pt x="0" y="20099"/>
                  </a:lnTo>
                  <a:cubicBezTo>
                    <a:pt x="0" y="8999"/>
                    <a:pt x="8999" y="0"/>
                    <a:pt x="20099" y="0"/>
                  </a:cubicBezTo>
                  <a:close/>
                </a:path>
              </a:pathLst>
            </a:custGeom>
            <a:solidFill>
              <a:srgbClr val="E7E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3550675" cy="961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965964">
            <a:off x="1422811" y="6837333"/>
            <a:ext cx="3076986" cy="794422"/>
          </a:xfrm>
          <a:custGeom>
            <a:avLst/>
            <a:gdLst/>
            <a:ahLst/>
            <a:cxnLst/>
            <a:rect l="l" t="t" r="r" b="b"/>
            <a:pathLst>
              <a:path w="3076986" h="794422">
                <a:moveTo>
                  <a:pt x="0" y="0"/>
                </a:moveTo>
                <a:lnTo>
                  <a:pt x="3076986" y="0"/>
                </a:lnTo>
                <a:lnTo>
                  <a:pt x="3076986" y="794422"/>
                </a:lnTo>
                <a:lnTo>
                  <a:pt x="0" y="794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 rot="-145734">
            <a:off x="3262266" y="3973000"/>
            <a:ext cx="11405831" cy="218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7"/>
              </a:lnSpc>
              <a:spcBef>
                <a:spcPct val="0"/>
              </a:spcBef>
            </a:pPr>
            <a:r>
              <a:rPr lang="en-US" sz="8437" b="1" u="none" strike="noStrike">
                <a:solidFill>
                  <a:srgbClr val="0F1113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Thank you for your time!</a:t>
            </a:r>
          </a:p>
        </p:txBody>
      </p:sp>
      <p:sp>
        <p:nvSpPr>
          <p:cNvPr id="11" name="Freeform 11"/>
          <p:cNvSpPr/>
          <p:nvPr/>
        </p:nvSpPr>
        <p:spPr>
          <a:xfrm rot="505682">
            <a:off x="13187527" y="1621709"/>
            <a:ext cx="1754218" cy="1803402"/>
          </a:xfrm>
          <a:custGeom>
            <a:avLst/>
            <a:gdLst/>
            <a:ahLst/>
            <a:cxnLst/>
            <a:rect l="l" t="t" r="r" b="b"/>
            <a:pathLst>
              <a:path w="1754218" h="1803402">
                <a:moveTo>
                  <a:pt x="0" y="0"/>
                </a:moveTo>
                <a:lnTo>
                  <a:pt x="1754218" y="0"/>
                </a:lnTo>
                <a:lnTo>
                  <a:pt x="1754218" y="1803401"/>
                </a:lnTo>
                <a:lnTo>
                  <a:pt x="0" y="1803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1386706"/>
            <a:ext cx="1285195" cy="1611530"/>
          </a:xfrm>
          <a:custGeom>
            <a:avLst/>
            <a:gdLst/>
            <a:ahLst/>
            <a:cxnLst/>
            <a:rect l="l" t="t" r="r" b="b"/>
            <a:pathLst>
              <a:path w="1285195" h="1611530">
                <a:moveTo>
                  <a:pt x="0" y="0"/>
                </a:moveTo>
                <a:lnTo>
                  <a:pt x="1285195" y="0"/>
                </a:lnTo>
                <a:lnTo>
                  <a:pt x="1285195" y="1611530"/>
                </a:lnTo>
                <a:lnTo>
                  <a:pt x="0" y="1611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9755954">
            <a:off x="1159354" y="7961983"/>
            <a:ext cx="2482277" cy="837768"/>
          </a:xfrm>
          <a:custGeom>
            <a:avLst/>
            <a:gdLst/>
            <a:ahLst/>
            <a:cxnLst/>
            <a:rect l="l" t="t" r="r" b="b"/>
            <a:pathLst>
              <a:path w="2482277" h="837768">
                <a:moveTo>
                  <a:pt x="0" y="0"/>
                </a:moveTo>
                <a:lnTo>
                  <a:pt x="2482277" y="0"/>
                </a:lnTo>
                <a:lnTo>
                  <a:pt x="2482277" y="837769"/>
                </a:lnTo>
                <a:lnTo>
                  <a:pt x="0" y="837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477</Words>
  <Application>Microsoft Office PowerPoint</Application>
  <PresentationFormat>Custom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Now Heavy</vt:lpstr>
      <vt:lpstr>Calibri</vt:lpstr>
      <vt:lpstr>Arial</vt:lpstr>
      <vt:lpstr>Roca One Heavy</vt:lpstr>
      <vt:lpstr>Now Bold</vt:lpstr>
      <vt:lpstr>Now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Fake Job Detections: Spotting Scams</dc:title>
  <dc:description>Presentation - Fake Job Detections: Spotting Scams</dc:description>
  <cp:lastModifiedBy>Devanshu Singh</cp:lastModifiedBy>
  <cp:revision>7</cp:revision>
  <dcterms:created xsi:type="dcterms:W3CDTF">2006-08-16T00:00:00Z</dcterms:created>
  <dcterms:modified xsi:type="dcterms:W3CDTF">2026-05-07T17:24:04Z</dcterms:modified>
  <dc:identifier>DAGuG9zFuXI</dc:identifier>
</cp:coreProperties>
</file>